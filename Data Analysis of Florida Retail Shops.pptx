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3518-0500-36D6-69F3-3CA9DFAD87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33DCA0-DC9E-6A1A-BB4A-2375A7035D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53CAEB-B987-FA09-CE61-5A767FE9E582}"/>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5" name="Footer Placeholder 4">
            <a:extLst>
              <a:ext uri="{FF2B5EF4-FFF2-40B4-BE49-F238E27FC236}">
                <a16:creationId xmlns:a16="http://schemas.microsoft.com/office/drawing/2014/main" id="{CFBC6C1B-573E-E3FD-1540-243BC7DBAE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2D47D-C0BA-3DBE-A346-0F291F96CD48}"/>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1114793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C7A5C-C1AC-96E9-D3CC-4341E819B1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2432DC-9A2E-5233-3012-725902AE36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17A84F-06E9-7C3B-3C59-02CCD0491399}"/>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5" name="Footer Placeholder 4">
            <a:extLst>
              <a:ext uri="{FF2B5EF4-FFF2-40B4-BE49-F238E27FC236}">
                <a16:creationId xmlns:a16="http://schemas.microsoft.com/office/drawing/2014/main" id="{78907176-41E3-A799-44EC-9047C6BB92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974FF-F1F2-29B2-E3E8-615611926702}"/>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2958753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D860-49FE-F1A2-6700-DF1E7136B3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0A2542-AE2C-1356-4D53-229489C03C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ECFBB3-E785-C05C-C861-8DFF1331B907}"/>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5" name="Footer Placeholder 4">
            <a:extLst>
              <a:ext uri="{FF2B5EF4-FFF2-40B4-BE49-F238E27FC236}">
                <a16:creationId xmlns:a16="http://schemas.microsoft.com/office/drawing/2014/main" id="{2BECB995-CDA2-EAE4-62DA-A8803C9600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5E5D41-132B-3888-F803-BBEA7F559959}"/>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973876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2F677-F67D-9EE6-E7D4-537E38035E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7B1756-4536-94F2-70D8-4D71CC6EEB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4035D6-3EE9-F64A-6445-29C4A984C0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D8EB68-F9B7-057E-2459-4791B920054C}"/>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6" name="Footer Placeholder 5">
            <a:extLst>
              <a:ext uri="{FF2B5EF4-FFF2-40B4-BE49-F238E27FC236}">
                <a16:creationId xmlns:a16="http://schemas.microsoft.com/office/drawing/2014/main" id="{D88E8D04-0564-8A1F-913B-4C86363D7F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476A55-5920-30E5-820E-35906AD1B719}"/>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228936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7D9F3-B8F8-EBBD-9A8F-6CC939563D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A73F6C-AB34-1E94-96F1-ABA8FEBE2D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AD0B14-FB74-54AB-3422-92AA3EF148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E0DE31-776A-1643-97E3-6B9F8D6968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864D97-6EFC-2627-7C36-7CC285C7BA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F0B39F-2A37-4CED-E5D7-F65850FA93EE}"/>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8" name="Footer Placeholder 7">
            <a:extLst>
              <a:ext uri="{FF2B5EF4-FFF2-40B4-BE49-F238E27FC236}">
                <a16:creationId xmlns:a16="http://schemas.microsoft.com/office/drawing/2014/main" id="{23B71B3E-5029-21E4-D100-3BCFEEC3C5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792BF0-5BC7-7AB5-A7B1-DE7795E56012}"/>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3603665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5286A-44DA-9BCF-EA60-D19B1E24F1A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BA5553-FA57-5212-9F03-871AF0CA86FF}"/>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4" name="Footer Placeholder 3">
            <a:extLst>
              <a:ext uri="{FF2B5EF4-FFF2-40B4-BE49-F238E27FC236}">
                <a16:creationId xmlns:a16="http://schemas.microsoft.com/office/drawing/2014/main" id="{12ED4364-211D-97B3-7F90-1CBCD8281C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C26613-B0A6-12EE-A698-F6E32184CCD9}"/>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194329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0F7AA-DB11-132E-7B5C-13CB9AA0735E}"/>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3" name="Footer Placeholder 2">
            <a:extLst>
              <a:ext uri="{FF2B5EF4-FFF2-40B4-BE49-F238E27FC236}">
                <a16:creationId xmlns:a16="http://schemas.microsoft.com/office/drawing/2014/main" id="{54A0D0ED-3F8B-49BD-3428-B0E24E2AA9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D3305E-9F49-6721-46F9-98A48DBF8A33}"/>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3368128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6D23B-9D1D-7625-E96E-4ADB16CA4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DDE977-4D6E-A427-B1A9-0E1DB45712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80E659-7517-142D-A59F-68E080AFA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B0B64F-B737-843C-A375-963BC52AE3F1}"/>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6" name="Footer Placeholder 5">
            <a:extLst>
              <a:ext uri="{FF2B5EF4-FFF2-40B4-BE49-F238E27FC236}">
                <a16:creationId xmlns:a16="http://schemas.microsoft.com/office/drawing/2014/main" id="{1718F57D-DD6A-5887-007A-9A598F19DC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2B6684-85B8-1710-F106-26BD1D57A04A}"/>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57804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F6E06-075D-C1AD-09AB-4C7BCAC2F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2CA94B-5656-B41F-D904-25580BDB4E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540B72-76E9-C8AF-9084-20CB60A195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FAE8F2-A724-2C95-8A2C-A1D5F404AE7B}"/>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6" name="Footer Placeholder 5">
            <a:extLst>
              <a:ext uri="{FF2B5EF4-FFF2-40B4-BE49-F238E27FC236}">
                <a16:creationId xmlns:a16="http://schemas.microsoft.com/office/drawing/2014/main" id="{59CACD6D-5D05-6B56-DF13-4A9F238CAA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86625F-8FEF-021E-C3EF-E0CA37ED5308}"/>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3116020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79478-DBF1-B2D9-D729-0AF7BD3855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0DE07A-9E3A-818E-73FD-441EFF050E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3C0597-C1FF-3F70-215E-42C16B94A0B6}"/>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5" name="Footer Placeholder 4">
            <a:extLst>
              <a:ext uri="{FF2B5EF4-FFF2-40B4-BE49-F238E27FC236}">
                <a16:creationId xmlns:a16="http://schemas.microsoft.com/office/drawing/2014/main" id="{FE30E417-5F82-A046-EADF-1F39235557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165892-3EE7-8B0E-3FE0-790A12F4554C}"/>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87341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D724C1-AAB4-38B8-4E84-C8DF3E06C9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7CDFA9-CF82-45B2-D2DF-0B7A1246F2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6F81A7-8290-F843-0670-69CDB914B1CD}"/>
              </a:ext>
            </a:extLst>
          </p:cNvPr>
          <p:cNvSpPr>
            <a:spLocks noGrp="1"/>
          </p:cNvSpPr>
          <p:nvPr>
            <p:ph type="dt" sz="half" idx="10"/>
          </p:nvPr>
        </p:nvSpPr>
        <p:spPr/>
        <p:txBody>
          <a:bodyPr/>
          <a:lstStyle/>
          <a:p>
            <a:fld id="{5CFA5FED-A597-4004-9195-5BCDF3452D70}" type="datetimeFigureOut">
              <a:rPr lang="en-IN" smtClean="0"/>
              <a:t>16-05-2026</a:t>
            </a:fld>
            <a:endParaRPr lang="en-IN"/>
          </a:p>
        </p:txBody>
      </p:sp>
      <p:sp>
        <p:nvSpPr>
          <p:cNvPr id="5" name="Footer Placeholder 4">
            <a:extLst>
              <a:ext uri="{FF2B5EF4-FFF2-40B4-BE49-F238E27FC236}">
                <a16:creationId xmlns:a16="http://schemas.microsoft.com/office/drawing/2014/main" id="{DA1A4C9C-5AB6-6342-D93E-913D7C5DCD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02844-1A46-CF0B-AEEC-2B5A377DD95E}"/>
              </a:ext>
            </a:extLst>
          </p:cNvPr>
          <p:cNvSpPr>
            <a:spLocks noGrp="1"/>
          </p:cNvSpPr>
          <p:nvPr>
            <p:ph type="sldNum" sz="quarter" idx="12"/>
          </p:nvPr>
        </p:nvSpPr>
        <p:spPr/>
        <p:txBody>
          <a:bodyPr/>
          <a:lstStyle/>
          <a:p>
            <a:fld id="{516A01D0-CDB7-443C-9899-21A851E7F7B3}" type="slidenum">
              <a:rPr lang="en-IN" smtClean="0"/>
              <a:t>‹#›</a:t>
            </a:fld>
            <a:endParaRPr lang="en-IN"/>
          </a:p>
        </p:txBody>
      </p:sp>
    </p:spTree>
    <p:extLst>
      <p:ext uri="{BB962C8B-B14F-4D97-AF65-F5344CB8AC3E}">
        <p14:creationId xmlns:p14="http://schemas.microsoft.com/office/powerpoint/2010/main" val="2801857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3D435-0487-F709-9A22-FDD9ED734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1D95E3-3ADB-57EC-A3A4-2D3E85FBCC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07166F-1877-491B-0837-3887F5F3D8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FA5FED-A597-4004-9195-5BCDF3452D70}" type="datetimeFigureOut">
              <a:rPr lang="en-IN" smtClean="0"/>
              <a:t>16-05-2026</a:t>
            </a:fld>
            <a:endParaRPr lang="en-IN"/>
          </a:p>
        </p:txBody>
      </p:sp>
      <p:sp>
        <p:nvSpPr>
          <p:cNvPr id="5" name="Footer Placeholder 4">
            <a:extLst>
              <a:ext uri="{FF2B5EF4-FFF2-40B4-BE49-F238E27FC236}">
                <a16:creationId xmlns:a16="http://schemas.microsoft.com/office/drawing/2014/main" id="{CF150D6F-49CA-7708-C6C1-F244DBF8ED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67C5DE-F735-4E15-B579-42B84BBAD9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6A01D0-CDB7-443C-9899-21A851E7F7B3}" type="slidenum">
              <a:rPr lang="en-IN" smtClean="0"/>
              <a:t>‹#›</a:t>
            </a:fld>
            <a:endParaRPr lang="en-IN"/>
          </a:p>
        </p:txBody>
      </p:sp>
    </p:spTree>
    <p:extLst>
      <p:ext uri="{BB962C8B-B14F-4D97-AF65-F5344CB8AC3E}">
        <p14:creationId xmlns:p14="http://schemas.microsoft.com/office/powerpoint/2010/main" val="1958908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1F4B7-6B52-8B22-BE29-A3378AB8CF9C}"/>
              </a:ext>
            </a:extLst>
          </p:cNvPr>
          <p:cNvSpPr>
            <a:spLocks noGrp="1"/>
          </p:cNvSpPr>
          <p:nvPr>
            <p:ph type="ctrTitle"/>
          </p:nvPr>
        </p:nvSpPr>
        <p:spPr/>
        <p:txBody>
          <a:bodyPr/>
          <a:lstStyle/>
          <a:p>
            <a:r>
              <a:rPr lang="en-IN" dirty="0"/>
              <a:t>Data Analysis of Florida Retail Shops</a:t>
            </a:r>
          </a:p>
        </p:txBody>
      </p:sp>
      <p:sp>
        <p:nvSpPr>
          <p:cNvPr id="3" name="Subtitle 2">
            <a:extLst>
              <a:ext uri="{FF2B5EF4-FFF2-40B4-BE49-F238E27FC236}">
                <a16:creationId xmlns:a16="http://schemas.microsoft.com/office/drawing/2014/main" id="{BBA2A2CF-27C7-969C-0D62-5CCDD71BD6EF}"/>
              </a:ext>
            </a:extLst>
          </p:cNvPr>
          <p:cNvSpPr>
            <a:spLocks noGrp="1"/>
          </p:cNvSpPr>
          <p:nvPr>
            <p:ph type="subTitle" idx="1"/>
          </p:nvPr>
        </p:nvSpPr>
        <p:spPr/>
        <p:txBody>
          <a:bodyPr/>
          <a:lstStyle/>
          <a:p>
            <a:r>
              <a:rPr lang="en-IN" dirty="0">
                <a:solidFill>
                  <a:schemeClr val="tx1">
                    <a:lumMod val="50000"/>
                    <a:lumOff val="50000"/>
                  </a:schemeClr>
                </a:solidFill>
              </a:rPr>
              <a:t>Weather, Sales and Customer Demographics</a:t>
            </a:r>
          </a:p>
        </p:txBody>
      </p:sp>
    </p:spTree>
    <p:extLst>
      <p:ext uri="{BB962C8B-B14F-4D97-AF65-F5344CB8AC3E}">
        <p14:creationId xmlns:p14="http://schemas.microsoft.com/office/powerpoint/2010/main" val="1100954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3485C-3149-D248-5782-B20A6F07F1B3}"/>
              </a:ext>
            </a:extLst>
          </p:cNvPr>
          <p:cNvSpPr>
            <a:spLocks noGrp="1"/>
          </p:cNvSpPr>
          <p:nvPr>
            <p:ph type="title"/>
          </p:nvPr>
        </p:nvSpPr>
        <p:spPr/>
        <p:txBody>
          <a:bodyPr/>
          <a:lstStyle/>
          <a:p>
            <a:r>
              <a:rPr lang="en-IN" dirty="0"/>
              <a:t>Business Context</a:t>
            </a:r>
          </a:p>
        </p:txBody>
      </p:sp>
      <p:sp>
        <p:nvSpPr>
          <p:cNvPr id="3" name="Content Placeholder 2">
            <a:extLst>
              <a:ext uri="{FF2B5EF4-FFF2-40B4-BE49-F238E27FC236}">
                <a16:creationId xmlns:a16="http://schemas.microsoft.com/office/drawing/2014/main" id="{CFF1C420-AD60-FBE3-B49D-FE7DF3192FE3}"/>
              </a:ext>
            </a:extLst>
          </p:cNvPr>
          <p:cNvSpPr>
            <a:spLocks noGrp="1"/>
          </p:cNvSpPr>
          <p:nvPr>
            <p:ph idx="1"/>
          </p:nvPr>
        </p:nvSpPr>
        <p:spPr/>
        <p:txBody>
          <a:bodyPr/>
          <a:lstStyle/>
          <a:p>
            <a:r>
              <a:rPr lang="en-IN" dirty="0"/>
              <a:t>Four shops are in Florida ( Miami, Tampa, Jacksonville and Orlando)</a:t>
            </a:r>
          </a:p>
          <a:p>
            <a:r>
              <a:rPr lang="en-IN" dirty="0"/>
              <a:t>Sales are strongly influenced by the weather patterns</a:t>
            </a:r>
          </a:p>
          <a:p>
            <a:r>
              <a:rPr lang="en-IN" dirty="0"/>
              <a:t>Therefore management wants to understand the drivers of customer demand.</a:t>
            </a:r>
          </a:p>
        </p:txBody>
      </p:sp>
    </p:spTree>
    <p:extLst>
      <p:ext uri="{BB962C8B-B14F-4D97-AF65-F5344CB8AC3E}">
        <p14:creationId xmlns:p14="http://schemas.microsoft.com/office/powerpoint/2010/main" val="2449724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176E-BBD8-1AAB-EF79-7C40F506AC9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2FC2B6E0-9B1D-476E-05F6-461D51DDA26B}"/>
              </a:ext>
            </a:extLst>
          </p:cNvPr>
          <p:cNvSpPr>
            <a:spLocks noGrp="1"/>
          </p:cNvSpPr>
          <p:nvPr>
            <p:ph idx="1"/>
          </p:nvPr>
        </p:nvSpPr>
        <p:spPr/>
        <p:txBody>
          <a:bodyPr/>
          <a:lstStyle/>
          <a:p>
            <a:r>
              <a:rPr lang="en-IN" dirty="0"/>
              <a:t>Daily sales fluctuate, but leadership lacks clarity on why, understanding how weather and customer demographics impact performance will provide insights to improve planning, staffing and promotions </a:t>
            </a:r>
          </a:p>
          <a:p>
            <a:endParaRPr lang="en-IN" dirty="0"/>
          </a:p>
          <a:p>
            <a:r>
              <a:rPr lang="en-IN" b="1" dirty="0"/>
              <a:t>Goal</a:t>
            </a:r>
            <a:r>
              <a:rPr lang="en-IN" dirty="0"/>
              <a:t> : Provide insights to improve planning, staffing and promotions </a:t>
            </a:r>
          </a:p>
        </p:txBody>
      </p:sp>
    </p:spTree>
    <p:extLst>
      <p:ext uri="{BB962C8B-B14F-4D97-AF65-F5344CB8AC3E}">
        <p14:creationId xmlns:p14="http://schemas.microsoft.com/office/powerpoint/2010/main" val="2053713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92F87-CCEF-283C-376B-1B1C35C64DB9}"/>
              </a:ext>
            </a:extLst>
          </p:cNvPr>
          <p:cNvSpPr>
            <a:spLocks noGrp="1"/>
          </p:cNvSpPr>
          <p:nvPr>
            <p:ph type="title"/>
          </p:nvPr>
        </p:nvSpPr>
        <p:spPr/>
        <p:txBody>
          <a:bodyPr/>
          <a:lstStyle/>
          <a:p>
            <a:r>
              <a:rPr lang="en-IN" dirty="0"/>
              <a:t>Steps followed</a:t>
            </a:r>
          </a:p>
        </p:txBody>
      </p:sp>
      <p:sp>
        <p:nvSpPr>
          <p:cNvPr id="3" name="Content Placeholder 2">
            <a:extLst>
              <a:ext uri="{FF2B5EF4-FFF2-40B4-BE49-F238E27FC236}">
                <a16:creationId xmlns:a16="http://schemas.microsoft.com/office/drawing/2014/main" id="{03A2D7B3-5003-3518-372E-A30ECBC17634}"/>
              </a:ext>
            </a:extLst>
          </p:cNvPr>
          <p:cNvSpPr>
            <a:spLocks noGrp="1"/>
          </p:cNvSpPr>
          <p:nvPr>
            <p:ph idx="1"/>
          </p:nvPr>
        </p:nvSpPr>
        <p:spPr/>
        <p:txBody>
          <a:bodyPr/>
          <a:lstStyle/>
          <a:p>
            <a:pPr marL="514350" indent="-514350">
              <a:buFont typeface="+mj-lt"/>
              <a:buAutoNum type="arabicPeriod"/>
            </a:pPr>
            <a:r>
              <a:rPr lang="en-IN" dirty="0"/>
              <a:t>Gather and clean daily sales, weather and survey data</a:t>
            </a:r>
          </a:p>
          <a:p>
            <a:pPr marL="514350" indent="-514350">
              <a:buFont typeface="+mj-lt"/>
              <a:buAutoNum type="arabicPeriod"/>
            </a:pPr>
            <a:r>
              <a:rPr lang="en-IN" dirty="0"/>
              <a:t>Build a database in MYSQL</a:t>
            </a:r>
          </a:p>
          <a:p>
            <a:pPr marL="514350" indent="-514350">
              <a:buFont typeface="+mj-lt"/>
              <a:buAutoNum type="arabicPeriod"/>
            </a:pPr>
            <a:r>
              <a:rPr lang="en-IN" dirty="0"/>
              <a:t>Join datasets on date for unified analysis</a:t>
            </a:r>
          </a:p>
          <a:p>
            <a:pPr marL="514350" indent="-514350">
              <a:buFont typeface="+mj-lt"/>
              <a:buAutoNum type="arabicPeriod"/>
            </a:pPr>
            <a:r>
              <a:rPr lang="en-IN" dirty="0"/>
              <a:t>Use ODBC SQL connector to upload data in Power BI</a:t>
            </a:r>
          </a:p>
          <a:p>
            <a:pPr marL="514350" indent="-514350">
              <a:buFont typeface="+mj-lt"/>
              <a:buAutoNum type="arabicPeriod"/>
            </a:pPr>
            <a:r>
              <a:rPr lang="en-IN" dirty="0"/>
              <a:t>Build a dashboard in Power BI</a:t>
            </a:r>
          </a:p>
          <a:p>
            <a:pPr marL="514350" indent="-514350">
              <a:buFont typeface="+mj-lt"/>
              <a:buAutoNum type="arabicPeriod"/>
            </a:pPr>
            <a:r>
              <a:rPr lang="en-IN" dirty="0"/>
              <a:t>Derive meaningful insights from the dashboard</a:t>
            </a:r>
          </a:p>
        </p:txBody>
      </p:sp>
    </p:spTree>
    <p:extLst>
      <p:ext uri="{BB962C8B-B14F-4D97-AF65-F5344CB8AC3E}">
        <p14:creationId xmlns:p14="http://schemas.microsoft.com/office/powerpoint/2010/main" val="316492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5242-5AA6-9C80-2B0D-D1DE50A8B5EE}"/>
              </a:ext>
            </a:extLst>
          </p:cNvPr>
          <p:cNvSpPr>
            <a:spLocks noGrp="1"/>
          </p:cNvSpPr>
          <p:nvPr>
            <p:ph type="title"/>
          </p:nvPr>
        </p:nvSpPr>
        <p:spPr/>
        <p:txBody>
          <a:bodyPr/>
          <a:lstStyle/>
          <a:p>
            <a:r>
              <a:rPr lang="en-IN" dirty="0"/>
              <a:t>Dashboard Questions </a:t>
            </a:r>
          </a:p>
        </p:txBody>
      </p:sp>
      <p:sp>
        <p:nvSpPr>
          <p:cNvPr id="3" name="Content Placeholder 2">
            <a:extLst>
              <a:ext uri="{FF2B5EF4-FFF2-40B4-BE49-F238E27FC236}">
                <a16:creationId xmlns:a16="http://schemas.microsoft.com/office/drawing/2014/main" id="{3F73B0BE-A8D0-9BC1-C453-B226E5C96637}"/>
              </a:ext>
            </a:extLst>
          </p:cNvPr>
          <p:cNvSpPr>
            <a:spLocks noGrp="1"/>
          </p:cNvSpPr>
          <p:nvPr>
            <p:ph idx="1"/>
          </p:nvPr>
        </p:nvSpPr>
        <p:spPr/>
        <p:txBody>
          <a:bodyPr>
            <a:normAutofit fontScale="92500" lnSpcReduction="10000"/>
          </a:bodyPr>
          <a:lstStyle/>
          <a:p>
            <a:r>
              <a:rPr lang="en-IN" dirty="0"/>
              <a:t>How strongly do temperature and rainfall affect daily sales? </a:t>
            </a:r>
          </a:p>
          <a:p>
            <a:pPr marL="0" indent="0">
              <a:buNone/>
            </a:pPr>
            <a:r>
              <a:rPr lang="en-IN" dirty="0"/>
              <a:t>	Very Strongly</a:t>
            </a:r>
          </a:p>
          <a:p>
            <a:r>
              <a:rPr lang="en-IN" dirty="0"/>
              <a:t>Which shop performs the best and why? </a:t>
            </a:r>
          </a:p>
          <a:p>
            <a:pPr marL="0" indent="0">
              <a:buNone/>
            </a:pPr>
            <a:r>
              <a:rPr lang="en-IN" dirty="0"/>
              <a:t>	Miami </a:t>
            </a:r>
          </a:p>
          <a:p>
            <a:r>
              <a:rPr lang="en-IN" dirty="0"/>
              <a:t>Who are our customers, families vs singles, male vs female and how does this change over time? </a:t>
            </a:r>
          </a:p>
          <a:p>
            <a:pPr marL="0" indent="0">
              <a:buNone/>
            </a:pPr>
            <a:r>
              <a:rPr lang="en-IN" dirty="0"/>
              <a:t>	Weekends see more families</a:t>
            </a:r>
          </a:p>
          <a:p>
            <a:r>
              <a:rPr lang="en-IN" dirty="0"/>
              <a:t>Are there predictable seasonal patterns in sales? </a:t>
            </a:r>
          </a:p>
          <a:p>
            <a:pPr marL="0" indent="0">
              <a:buNone/>
            </a:pPr>
            <a:r>
              <a:rPr lang="en-IN" dirty="0"/>
              <a:t>	Summers brought more sales</a:t>
            </a:r>
          </a:p>
          <a:p>
            <a:r>
              <a:rPr lang="en-IN" dirty="0"/>
              <a:t>What actions would you take based on these insights?</a:t>
            </a:r>
          </a:p>
        </p:txBody>
      </p:sp>
    </p:spTree>
    <p:extLst>
      <p:ext uri="{BB962C8B-B14F-4D97-AF65-F5344CB8AC3E}">
        <p14:creationId xmlns:p14="http://schemas.microsoft.com/office/powerpoint/2010/main" val="54236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6015D-674B-72D9-7510-707DAD4F56E4}"/>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E9CE014D-4BD6-E12A-CE5C-BE0FC58EA63B}"/>
              </a:ext>
            </a:extLst>
          </p:cNvPr>
          <p:cNvSpPr>
            <a:spLocks noGrp="1"/>
          </p:cNvSpPr>
          <p:nvPr>
            <p:ph idx="1"/>
          </p:nvPr>
        </p:nvSpPr>
        <p:spPr>
          <a:xfrm>
            <a:off x="838200" y="1825624"/>
            <a:ext cx="10968789" cy="2810544"/>
          </a:xfrm>
        </p:spPr>
        <p:txBody>
          <a:bodyPr>
            <a:normAutofit fontScale="85000" lnSpcReduction="20000"/>
          </a:bodyPr>
          <a:lstStyle/>
          <a:p>
            <a:r>
              <a:rPr lang="en-IN" dirty="0"/>
              <a:t>Sales are shaped by weather, location and customer mix. To maximise growth, managers must adapt operations to seasonal shifts and customer patterns. Staff and stock up during summer days because as the temperature increased sales increased as well. </a:t>
            </a:r>
          </a:p>
          <a:p>
            <a:r>
              <a:rPr lang="en-IN" dirty="0"/>
              <a:t>During rainy days sales decreased hence, use lucrative discounts to attract customers</a:t>
            </a:r>
          </a:p>
          <a:p>
            <a:r>
              <a:rPr lang="en-IN" dirty="0"/>
              <a:t>Miami is best selling, expand it during peak tourism months</a:t>
            </a:r>
          </a:p>
          <a:p>
            <a:r>
              <a:rPr lang="en-IN" dirty="0"/>
              <a:t>Jacksonville is poor performing, run loyalty points or campaigns to ensure sales</a:t>
            </a:r>
          </a:p>
          <a:p>
            <a:r>
              <a:rPr lang="en-IN" dirty="0"/>
              <a:t>Target families in weekends and singles on weekdays</a:t>
            </a:r>
          </a:p>
        </p:txBody>
      </p:sp>
      <p:pic>
        <p:nvPicPr>
          <p:cNvPr id="5" name="Picture 4">
            <a:extLst>
              <a:ext uri="{FF2B5EF4-FFF2-40B4-BE49-F238E27FC236}">
                <a16:creationId xmlns:a16="http://schemas.microsoft.com/office/drawing/2014/main" id="{6E101CB0-C6F3-BB0F-210F-FA6855D46921}"/>
              </a:ext>
            </a:extLst>
          </p:cNvPr>
          <p:cNvPicPr>
            <a:picLocks noChangeAspect="1"/>
          </p:cNvPicPr>
          <p:nvPr/>
        </p:nvPicPr>
        <p:blipFill>
          <a:blip r:embed="rId2"/>
          <a:stretch>
            <a:fillRect/>
          </a:stretch>
        </p:blipFill>
        <p:spPr>
          <a:xfrm>
            <a:off x="1612218" y="4486582"/>
            <a:ext cx="3469890" cy="2211509"/>
          </a:xfrm>
          <a:prstGeom prst="rect">
            <a:avLst/>
          </a:prstGeom>
        </p:spPr>
      </p:pic>
      <p:pic>
        <p:nvPicPr>
          <p:cNvPr id="7" name="Picture 6">
            <a:extLst>
              <a:ext uri="{FF2B5EF4-FFF2-40B4-BE49-F238E27FC236}">
                <a16:creationId xmlns:a16="http://schemas.microsoft.com/office/drawing/2014/main" id="{9C2DD928-2BA5-A95D-A213-4E81DD9ADCAF}"/>
              </a:ext>
            </a:extLst>
          </p:cNvPr>
          <p:cNvPicPr>
            <a:picLocks noChangeAspect="1"/>
          </p:cNvPicPr>
          <p:nvPr/>
        </p:nvPicPr>
        <p:blipFill>
          <a:blip r:embed="rId3"/>
          <a:stretch>
            <a:fillRect/>
          </a:stretch>
        </p:blipFill>
        <p:spPr>
          <a:xfrm>
            <a:off x="5487157" y="4488099"/>
            <a:ext cx="5677392" cy="2209992"/>
          </a:xfrm>
          <a:prstGeom prst="rect">
            <a:avLst/>
          </a:prstGeom>
        </p:spPr>
      </p:pic>
    </p:spTree>
    <p:extLst>
      <p:ext uri="{BB962C8B-B14F-4D97-AF65-F5344CB8AC3E}">
        <p14:creationId xmlns:p14="http://schemas.microsoft.com/office/powerpoint/2010/main" val="2047258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Data Analysis of Florida Retail Shops</vt:lpstr>
      <vt:lpstr>Business Context</vt:lpstr>
      <vt:lpstr>Problem Statement</vt:lpstr>
      <vt:lpstr>Steps followed</vt:lpstr>
      <vt:lpstr>Dashboard Questions </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22BSA10085</dc:creator>
  <cp:lastModifiedBy>22BSA10085</cp:lastModifiedBy>
  <cp:revision>1</cp:revision>
  <dcterms:created xsi:type="dcterms:W3CDTF">2026-05-16T18:02:00Z</dcterms:created>
  <dcterms:modified xsi:type="dcterms:W3CDTF">2026-05-16T18:02:26Z</dcterms:modified>
</cp:coreProperties>
</file>